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rygada 1918" panose="020B0604020202020204" charset="0"/>
      <p:regular r:id="rId13"/>
    </p:embeddedFont>
    <p:embeddedFont>
      <p:font typeface="Brygada 1918 Bold" panose="020B0604020202020204" charset="0"/>
      <p:regular r:id="rId14"/>
    </p:embeddedFont>
    <p:embeddedFont>
      <p:font typeface="Brygada 1918 Semi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4795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1159892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Blinkit Operations, Fulfillment &amp; Marketing Analytics Dashboard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01454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An end-to-end data analytics pipeline — SQL, Python (Pandas, NumPy), DAX, and Power BI — transforming raw operational data into a 3-page executive dashboard for supply chain, fulfillment, and customer growth insights.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768179"/>
            <a:ext cx="2299395" cy="215354"/>
          </a:xfrm>
          <a:prstGeom prst="roundRect">
            <a:avLst>
              <a:gd name="adj" fmla="val 78996"/>
            </a:avLst>
          </a:prstGeom>
          <a:solidFill>
            <a:srgbClr val="EAEDDE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810670"/>
            <a:ext cx="258648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DATA ANALYST: ANSHUL SHRIVASTAVA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295355" y="3768179"/>
            <a:ext cx="721816" cy="215354"/>
          </a:xfrm>
          <a:prstGeom prst="roundRect">
            <a:avLst>
              <a:gd name="adj" fmla="val 78996"/>
            </a:avLst>
          </a:prstGeom>
          <a:noFill/>
          <a:ln w="4763">
            <a:solidFill>
              <a:srgbClr val="626C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80411" y="3810670"/>
            <a:ext cx="100890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626C3B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JULY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403547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Project Overview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496119" y="928688"/>
            <a:ext cx="4722763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This project synthesizes multi-departmental Blinkit data — customer demographics, delivery, inventory, feedback, and marketing — into actionable business intelligence. Quick-commerce operates on razor-thin margins and high customer expectations for rapid delivery.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96119" y="1747614"/>
            <a:ext cx="4722763" cy="672405"/>
          </a:xfrm>
          <a:prstGeom prst="roundRect">
            <a:avLst>
              <a:gd name="adj" fmla="val 26684"/>
            </a:avLst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0464" y="1871960"/>
            <a:ext cx="44740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Logistics Bottlenecks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0464" y="2119313"/>
            <a:ext cx="44740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Identify driver delays across delivery distances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96119" y="2520925"/>
            <a:ext cx="4722763" cy="672405"/>
          </a:xfrm>
          <a:prstGeom prst="roundRect">
            <a:avLst>
              <a:gd name="adj" fmla="val 26684"/>
            </a:avLst>
          </a:prstGeom>
          <a:solidFill>
            <a:srgbClr val="83792E"/>
          </a:solidFill>
          <a:ln w="4763">
            <a:solidFill>
              <a:srgbClr val="9C92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0464" y="2645271"/>
            <a:ext cx="44740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Inventory Damage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0464" y="2892623"/>
            <a:ext cx="44740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Track stock health and minimize transit loss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96119" y="3294236"/>
            <a:ext cx="4722763" cy="672405"/>
          </a:xfrm>
          <a:prstGeom prst="roundRect">
            <a:avLst>
              <a:gd name="adj" fmla="val 26684"/>
            </a:avLst>
          </a:prstGeom>
          <a:solidFill>
            <a:srgbClr val="E8AF3B"/>
          </a:solidFill>
          <a:ln w="4763">
            <a:solidFill>
              <a:srgbClr val="CE952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0464" y="3418582"/>
            <a:ext cx="44740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Customer Satisfaction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0464" y="3665934"/>
            <a:ext cx="44740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Assess ratings across service touchpoints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96119" y="4067547"/>
            <a:ext cx="4722763" cy="672405"/>
          </a:xfrm>
          <a:prstGeom prst="roundRect">
            <a:avLst>
              <a:gd name="adj" fmla="val 26684"/>
            </a:avLst>
          </a:prstGeom>
          <a:solidFill>
            <a:srgbClr val="CC914D"/>
          </a:solidFill>
          <a:ln w="4763">
            <a:solidFill>
              <a:srgbClr val="B277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0464" y="4191893"/>
            <a:ext cx="44740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Marketing ROAS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0464" y="4439245"/>
            <a:ext cx="44740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Evaluate campaign efficiency and budget allocation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Tech Stack &amp; Architecture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1148" y="1019908"/>
            <a:ext cx="3986733" cy="471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Why This Stack?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665911" y="1681090"/>
            <a:ext cx="3986733" cy="471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Each tool was selected for its functional advantage in the end-to-end workflow — from raw data ingestion to executive visual storytelling</a:t>
            </a:r>
            <a:r>
              <a:rPr lang="en-US" sz="5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710979"/>
            <a:ext cx="3986733" cy="3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2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MySQL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: ACID-compliant relational database with efficient indexing</a:t>
            </a:r>
            <a:endParaRPr lang="en-US" sz="12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2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Python (Pandas, NumPy)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: Automated cleaning, feature engineering, and type casting</a:t>
            </a:r>
            <a:endParaRPr lang="en-US" sz="12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2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SQLAlchemy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: Seamless ORM bridge between Python and MySQL</a:t>
            </a:r>
            <a:endParaRPr lang="en-US" sz="12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2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Power BI + DAX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: Interactive dashboard with dynamic KPI measures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2059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Dataset Overview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051396"/>
            <a:ext cx="8151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Six interconnected tables form the analytical backbone, connected via a Star Schema with </a:t>
            </a:r>
            <a:r>
              <a:rPr lang="en-US" sz="10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transformed_orders</a:t>
            </a: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as the central fact table.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588591"/>
            <a:ext cx="8151763" cy="2522265"/>
          </a:xfrm>
          <a:prstGeom prst="roundRect">
            <a:avLst>
              <a:gd name="adj" fmla="val 777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950616"/>
            <a:ext cx="8151763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310259"/>
            <a:ext cx="8151763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669902"/>
            <a:ext cx="8151763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029545"/>
            <a:ext cx="8151763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389188"/>
            <a:ext cx="8151763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3748832"/>
            <a:ext cx="8151763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32445" y="1670372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Table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45954" y="1670372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Rows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59463" y="1670372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Key Columns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2445" y="2030016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45954" y="2030016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1,000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59463" y="2030016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customer_id, segment, location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2445" y="2389659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Orders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45954" y="2389659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5,000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59463" y="2389659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order_id, total_amount, status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2445" y="2749302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Delivery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45954" y="2749302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5,000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59463" y="2749302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distance_km, delay_minutes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2445" y="3108945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Inventory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45954" y="3108945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1,200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59463" y="3108945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damaged_stock, damage_rate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2445" y="3468588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Feedback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45954" y="3468588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4,200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59463" y="3468588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rating, feedback_category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2445" y="3828231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Marketing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45954" y="3828231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150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59463" y="3828231"/>
            <a:ext cx="290936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spend, revenue_generated, roas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6119" y="4246364"/>
            <a:ext cx="8151763" cy="495077"/>
          </a:xfrm>
          <a:prstGeom prst="roundRect">
            <a:avLst>
              <a:gd name="adj" fmla="val 39597"/>
            </a:avLst>
          </a:prstGeom>
          <a:solidFill>
            <a:srgbClr val="EAEDDE"/>
          </a:solidFill>
          <a:ln/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90" y="4433441"/>
            <a:ext cx="163339" cy="130671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920800" y="4399508"/>
            <a:ext cx="805361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Missing delay_minutes (~3.2%) = on-time orders. Missing feedback_category (~8.5%) = optional rating fields.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Data Cleaning &amp; Transformation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881583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70668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Feature Engineer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89968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Standardize Time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10083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Impute Missing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29382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Deduplicate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457477"/>
            <a:ext cx="8151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All transformed DataFrames were exported back to MySQL and saved as optimized CSVs for Power BI star-schema modeling. Key engineered features include </a:t>
            </a:r>
            <a:r>
              <a:rPr lang="en-US" sz="8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delay_minutes</a:t>
            </a:r>
            <a:r>
              <a:rPr lang="en-US" sz="8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8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is_delayed</a:t>
            </a:r>
            <a:r>
              <a:rPr lang="en-US" sz="8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boolean flag, and temporal fields (order_year, order_month, order_day_of_week, order_hour) for time-series analysis.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510332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Key Business Findings</a:t>
            </a:r>
            <a:endParaRPr lang="en-US" sz="2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035472"/>
            <a:ext cx="4722763" cy="86781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7139" y="1169343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Distance-Delay Spike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87139" y="1416695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Orders beyond 4 km surge to </a:t>
            </a:r>
            <a:r>
              <a:rPr lang="en-US" sz="9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18.5% delay rate</a:t>
            </a: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(avg 14.1 min) vs. under 4% within 3 km.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004194"/>
            <a:ext cx="4722763" cy="86781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7139" y="2138065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Satisfaction Collapse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687139" y="2385417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Ratings hold at 4.1–4.6/5.0 under 5-min delays but collapse to </a:t>
            </a:r>
            <a:r>
              <a:rPr lang="en-US" sz="9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2.1/5.0</a:t>
            </a: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past 10 minutes.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972916"/>
            <a:ext cx="4722763" cy="86781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7139" y="3106787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Cold-Chain Vulnerability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687139" y="3354139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Fresh Produce &amp; Dairy account for </a:t>
            </a:r>
            <a:r>
              <a:rPr lang="en-US" sz="9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62% of all damage</a:t>
            </a: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at 5.8% rate vs. 1.9% platform average.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941638"/>
            <a:ext cx="4722763" cy="69145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87139" y="4075509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Marketing Misallocation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687139" y="4322862"/>
            <a:ext cx="43978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Search &amp; In-App Ads yield </a:t>
            </a:r>
            <a:r>
              <a:rPr lang="en-US" sz="9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4.2× and 3.8× ROAS</a:t>
            </a: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; broad Social Media lags at 1.4×.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Delivery Distance vs. Delay Rate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The 4 km Tipping Point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Delay rates remain under 4% within a 3 km radius but spike sharply beyond 4 km. Average delay jumps from </a:t>
            </a:r>
            <a:r>
              <a:rPr lang="en-US" sz="11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3.2 minutes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to </a:t>
            </a:r>
            <a:r>
              <a:rPr lang="en-US" sz="11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14.1 minutes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a 4.4× increase.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680246"/>
            <a:ext cx="3902943" cy="1233190"/>
          </a:xfrm>
          <a:prstGeom prst="roundRect">
            <a:avLst>
              <a:gd name="adj" fmla="val 17244"/>
            </a:avLst>
          </a:prstGeom>
          <a:solidFill>
            <a:srgbClr val="EAEDDE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2890540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843213"/>
            <a:ext cx="330048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Recommendation:</a:t>
            </a:r>
            <a:r>
              <a:rPr lang="en-US" sz="11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Cap dark-store fulfillment zones at 3.5 km for standard 15-min SLAs; auto-adjust fringe orders (3.5–5 km) to 30-min windows.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2426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Power BI Dashboard Architecture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124769"/>
            <a:ext cx="26599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Star Schema Model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96119" y="1419746"/>
            <a:ext cx="2659931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Fact Table:</a:t>
            </a: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transformed_orders (revenue, order status, transactional metrics)</a:t>
            </a:r>
            <a:endParaRPr lang="en-US" sz="9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Dimension Tables</a:t>
            </a: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(1-to-Many relationships):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151757"/>
            <a:ext cx="2659931" cy="1958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transformed_customers — demographics &amp; loyalty tiers</a:t>
            </a:r>
            <a:endParaRPr lang="en-US" sz="950" dirty="0"/>
          </a:p>
          <a:p>
            <a:pPr marL="193040" indent="-193040" algn="l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transformed_delivery — distance, fulfillment times, delays</a:t>
            </a:r>
            <a:endParaRPr lang="en-US" sz="950" dirty="0"/>
          </a:p>
          <a:p>
            <a:pPr marL="193040" indent="-193040" algn="l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transformed_feedback — ratings &amp; feedback categories</a:t>
            </a:r>
            <a:endParaRPr lang="en-US" sz="950" dirty="0"/>
          </a:p>
          <a:p>
            <a:pPr marL="193040" indent="-193040" algn="l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transformed_inventory — stock levels &amp; damage rates</a:t>
            </a:r>
            <a:endParaRPr lang="en-US" sz="950" dirty="0"/>
          </a:p>
          <a:p>
            <a:pPr marL="193040" indent="-193040" algn="l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transformed_marketing — ad spend &amp; channel attribution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96119" y="4204395"/>
            <a:ext cx="265993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 custom </a:t>
            </a:r>
            <a:r>
              <a:rPr lang="en-US" sz="9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Date Table</a:t>
            </a: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powers time-intelligence DAX measures (MoM growth, YoY trends).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021" y="1368772"/>
            <a:ext cx="5194622" cy="29435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405557"/>
            <a:ext cx="4722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Dashboard Pages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96119" y="1007715"/>
            <a:ext cx="2299097" cy="2112615"/>
          </a:xfrm>
          <a:prstGeom prst="roundRect">
            <a:avLst>
              <a:gd name="adj" fmla="val 9437"/>
            </a:avLst>
          </a:prstGeom>
          <a:solidFill>
            <a:srgbClr val="626C3B"/>
          </a:solidFill>
          <a:ln w="4763">
            <a:solidFill>
              <a:srgbClr val="626C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3785" y="1145381"/>
            <a:ext cx="398711" cy="398711"/>
          </a:xfrm>
          <a:prstGeom prst="ellipse">
            <a:avLst/>
          </a:prstGeom>
          <a:solidFill>
            <a:srgbClr val="626C3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396" y="1254993"/>
            <a:ext cx="179412" cy="1794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3785" y="1668661"/>
            <a:ext cx="2023765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Page 1: Executive Overview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33785" y="2158752"/>
            <a:ext cx="2023765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Total Revenue, Orders, AOV, Delay Rate %. Revenue trends, category breakdown, and hub performance.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919785" y="1007715"/>
            <a:ext cx="2299097" cy="2112615"/>
          </a:xfrm>
          <a:prstGeom prst="roundRect">
            <a:avLst>
              <a:gd name="adj" fmla="val 9437"/>
            </a:avLst>
          </a:prstGeom>
          <a:solidFill>
            <a:srgbClr val="626C3B"/>
          </a:solidFill>
          <a:ln w="4763">
            <a:solidFill>
              <a:srgbClr val="83792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057451" y="1145381"/>
            <a:ext cx="398711" cy="398711"/>
          </a:xfrm>
          <a:prstGeom prst="ellipse">
            <a:avLst/>
          </a:prstGeom>
          <a:solidFill>
            <a:srgbClr val="83792E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67062" y="1254993"/>
            <a:ext cx="179412" cy="1794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57451" y="1668661"/>
            <a:ext cx="2023765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Page 2: Operations &amp; Fulfillment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3057451" y="2158752"/>
            <a:ext cx="2023765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Avg Delivery Time, Delay (Mins), SLA Compliance, Damaged Inventory. Distance vs. delay matrix and stock loss charts.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96119" y="3244900"/>
            <a:ext cx="4722763" cy="1492969"/>
          </a:xfrm>
          <a:prstGeom prst="roundRect">
            <a:avLst>
              <a:gd name="adj" fmla="val 13353"/>
            </a:avLst>
          </a:prstGeom>
          <a:solidFill>
            <a:srgbClr val="626C3B"/>
          </a:solidFill>
          <a:ln w="4763">
            <a:solidFill>
              <a:srgbClr val="E8AF3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33785" y="3382566"/>
            <a:ext cx="398711" cy="398711"/>
          </a:xfrm>
          <a:prstGeom prst="ellipse">
            <a:avLst/>
          </a:prstGeom>
          <a:solidFill>
            <a:srgbClr val="E8AF3B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396" y="3492178"/>
            <a:ext cx="179412" cy="1794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3785" y="3905845"/>
            <a:ext cx="444743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Page 3: Customer &amp; Marketing Insights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33785" y="4188247"/>
            <a:ext cx="444743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Avg Rating, Total Customers, Marketing Spend, ROAS. Rating vs. delay, RFM segmentation, and campaign ROAS funnel.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786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Business Recommendations &amp; Conclusion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94371"/>
            <a:ext cx="318939" cy="318939"/>
          </a:xfrm>
          <a:prstGeom prst="ellipse">
            <a:avLst/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9287" y="142093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6816" y="1443038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Optimize Dark Store Radii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56816" y="1749549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Cap delivery at 3.5 km for 15-min SLAs; auto-adjust fringe orders to 30-min windows.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0553" y="1394371"/>
            <a:ext cx="318939" cy="318939"/>
          </a:xfrm>
          <a:prstGeom prst="ellipse">
            <a:avLst/>
          </a:prstGeom>
          <a:solidFill>
            <a:srgbClr val="83792E"/>
          </a:solidFill>
          <a:ln w="4763">
            <a:solidFill>
              <a:srgbClr val="9C92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3722" y="142093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121250" y="1443038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Automate Delay Alerts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121250" y="1749549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Trigger in-app notifications with wallet credits at the 7-minute delay threshold.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2486695"/>
            <a:ext cx="318939" cy="318939"/>
          </a:xfrm>
          <a:prstGeom prst="ellipse">
            <a:avLst/>
          </a:prstGeom>
          <a:solidFill>
            <a:srgbClr val="E8AF3B"/>
          </a:solidFill>
          <a:ln w="4763">
            <a:solidFill>
              <a:srgbClr val="CE95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9287" y="251326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56816" y="2535362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Overhaul Cold-Chain Protocols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56816" y="2841873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Upgrade packaging for Fresh Produce &amp; Dairy; shift to high-frequency daily deliveries.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0553" y="2486695"/>
            <a:ext cx="318939" cy="318939"/>
          </a:xfrm>
          <a:prstGeom prst="ellipse">
            <a:avLst/>
          </a:prstGeom>
          <a:solidFill>
            <a:srgbClr val="CC914D"/>
          </a:solidFill>
          <a:ln w="4763">
            <a:solidFill>
              <a:srgbClr val="B277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3722" y="251326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4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121250" y="2535362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Reallocate Marketing Capital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21250" y="2841873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Shift 25% of spend from broad Social Media to Search and Retargeting (4.2× ROAS).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6119" y="3454971"/>
            <a:ext cx="8151763" cy="1020589"/>
          </a:xfrm>
          <a:prstGeom prst="roundRect">
            <a:avLst>
              <a:gd name="adj" fmla="val 20836"/>
            </a:avLst>
          </a:prstGeom>
          <a:solidFill>
            <a:srgbClr val="EAEDDE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655740"/>
            <a:ext cx="177180" cy="141759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56816" y="3632150"/>
            <a:ext cx="754930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This project delivered a complete ETL pipeline, relational database, and interactive Power BI dashboard — identifying the 4 km delay surge, 10-minute satisfaction drop, cold-chain vulnerabilities, and marketing inefficiencies with concrete, high-ROI recommendations.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843</Words>
  <Application>Microsoft Office PowerPoint</Application>
  <PresentationFormat>On-screen Show (16:9)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Brygada 1918</vt:lpstr>
      <vt:lpstr>Arial</vt:lpstr>
      <vt:lpstr>Brygada 1918 Bold</vt:lpstr>
      <vt:lpstr>Brygada 1918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anshul shrivastava</cp:lastModifiedBy>
  <cp:revision>2</cp:revision>
  <dcterms:created xsi:type="dcterms:W3CDTF">2026-07-27T14:55:06Z</dcterms:created>
  <dcterms:modified xsi:type="dcterms:W3CDTF">2026-07-27T14:58:41Z</dcterms:modified>
</cp:coreProperties>
</file>